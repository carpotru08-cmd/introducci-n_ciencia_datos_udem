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8BBA1F24-DB0A-8750-1D8C-BE26390A30D6}">
          <p14:sldIdLst>
            <p14:sldId id="256"/>
          </p14:sldIdLst>
        </p14:section>
        <p14:section name="Hallazgo del EDA" id="{16D3ED62-A2C7-3AA8-F098-77C098F5EF5C}">
          <p14:sldIdLst>
            <p14:sldId id="257"/>
          </p14:sldIdLst>
        </p14:section>
        <p14:section name="Modelo" id="{FE3CB2A5-3D83-F20B-E2C6-531F25B77D76}">
          <p14:sldIdLst>
            <p14:sldId id="258"/>
          </p14:sldIdLst>
        </p14:section>
        <p14:section name="Variables" id="{D3C026A0-71EF-15D1-BC83-0E0521766AAB}">
          <p14:sldIdLst>
            <p14:sldId id="259"/>
          </p14:sldIdLst>
        </p14:section>
        <p14:section name="Aplicación" id="{69F57653-A24F-0684-A75E-0106C3C86214}">
          <p14:sldIdLst>
            <p14:sldId id="260"/>
          </p14:sldIdLst>
        </p14:section>
        <p14:section name="Conclusiones" id="{2CEF8A9F-C03C-4ED0-946C-F5D3D07D805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Premium Pens</c:v>
                </c:pt>
              </c:strCache>
            </c:strRef>
          </c:tx>
          <c:spPr>
            <a:ln w="28575" cap="flat">
              <a:solidFill>
                <a:srgbClr val="0E8A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8A5A"/>
              </a:solidFill>
              <a:ln w="9525" cap="flat">
                <a:solidFill>
                  <a:srgbClr val="0E8A5A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42.579000000000001</c:v>
                </c:pt>
                <c:pt idx="1">
                  <c:v>38.293999999999997</c:v>
                </c:pt>
                <c:pt idx="2">
                  <c:v>34.009</c:v>
                </c:pt>
                <c:pt idx="3">
                  <c:v>29.724</c:v>
                </c:pt>
                <c:pt idx="4">
                  <c:v>25.44</c:v>
                </c:pt>
                <c:pt idx="5">
                  <c:v>21.155000000000001</c:v>
                </c:pt>
                <c:pt idx="6">
                  <c:v>16.87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03-4D9E-BFE5-A47E82B4D1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Mouse</c:v>
                </c:pt>
              </c:strCache>
            </c:strRef>
          </c:tx>
          <c:spPr>
            <a:ln w="28575" cap="flat">
              <a:solidFill>
                <a:srgbClr val="19C37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9C37D"/>
              </a:solidFill>
              <a:ln w="9525" cap="flat">
                <a:solidFill>
                  <a:srgbClr val="19C37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38.03</c:v>
                </c:pt>
                <c:pt idx="1">
                  <c:v>33.746000000000002</c:v>
                </c:pt>
                <c:pt idx="2">
                  <c:v>29.460999999999999</c:v>
                </c:pt>
                <c:pt idx="3">
                  <c:v>25.175999999999998</c:v>
                </c:pt>
                <c:pt idx="4">
                  <c:v>20.890999999999998</c:v>
                </c:pt>
                <c:pt idx="5">
                  <c:v>16.606000000000002</c:v>
                </c:pt>
                <c:pt idx="6">
                  <c:v>12.321999999999999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03-4D9E-BFE5-A47E82B4D1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USB Power Hub</c:v>
                </c:pt>
              </c:strCache>
            </c:strRef>
          </c:tx>
          <c:spPr>
            <a:ln w="28575" cap="flat">
              <a:solidFill>
                <a:srgbClr val="1421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36.369999999999997</c:v>
                </c:pt>
                <c:pt idx="1">
                  <c:v>32.085000000000001</c:v>
                </c:pt>
                <c:pt idx="2">
                  <c:v>27.8</c:v>
                </c:pt>
                <c:pt idx="3">
                  <c:v>23.515000000000001</c:v>
                </c:pt>
                <c:pt idx="4">
                  <c:v>19.231000000000002</c:v>
                </c:pt>
                <c:pt idx="5">
                  <c:v>14.946</c:v>
                </c:pt>
                <c:pt idx="6">
                  <c:v>10.661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F03-4D9E-BFE5-A47E82B4D1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Notebook Pack</c:v>
                </c:pt>
              </c:strCache>
            </c:strRef>
          </c:tx>
          <c:spPr>
            <a:ln w="28575" cap="flat">
              <a:solidFill>
                <a:srgbClr val="5B6B7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B6B7C"/>
              </a:solidFill>
              <a:ln w="9525" cap="flat">
                <a:solidFill>
                  <a:srgbClr val="5B6B7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35.97</c:v>
                </c:pt>
                <c:pt idx="1">
                  <c:v>31.686</c:v>
                </c:pt>
                <c:pt idx="2">
                  <c:v>27.401</c:v>
                </c:pt>
                <c:pt idx="3">
                  <c:v>23.116</c:v>
                </c:pt>
                <c:pt idx="4">
                  <c:v>18.831</c:v>
                </c:pt>
                <c:pt idx="5">
                  <c:v>14.545999999999999</c:v>
                </c:pt>
                <c:pt idx="6">
                  <c:v>10.262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F03-4D9E-BFE5-A47E82B4D10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Office Keyboard</c:v>
                </c:pt>
              </c:strCache>
            </c:strRef>
          </c:tx>
          <c:spPr>
            <a:ln w="28575" cap="flat">
              <a:solidFill>
                <a:srgbClr val="A9B8C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9B8C7"/>
              </a:solidFill>
              <a:ln w="9525" cap="flat">
                <a:solidFill>
                  <a:srgbClr val="A9B8C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34.853999999999999</c:v>
                </c:pt>
                <c:pt idx="1">
                  <c:v>30.57</c:v>
                </c:pt>
                <c:pt idx="2">
                  <c:v>26.285</c:v>
                </c:pt>
                <c:pt idx="3">
                  <c:v>22</c:v>
                </c:pt>
                <c:pt idx="4">
                  <c:v>17.715</c:v>
                </c:pt>
                <c:pt idx="5">
                  <c:v>13.43</c:v>
                </c:pt>
                <c:pt idx="6">
                  <c:v>9.1460000000000008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F03-4D9E-BFE5-A47E82B4D10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Copy Paper Box</c:v>
                </c:pt>
              </c:strCache>
            </c:strRef>
          </c:tx>
          <c:spPr>
            <a:ln w="28575" cap="flat">
              <a:solidFill>
                <a:srgbClr val="F5A52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524"/>
              </a:solidFill>
              <a:ln w="9525" cap="flat">
                <a:solidFill>
                  <a:srgbClr val="F5A52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17.587</c:v>
                </c:pt>
                <c:pt idx="1">
                  <c:v>13.302</c:v>
                </c:pt>
                <c:pt idx="2">
                  <c:v>9.0169999999999995</c:v>
                </c:pt>
                <c:pt idx="3">
                  <c:v>4.7320000000000002</c:v>
                </c:pt>
                <c:pt idx="4">
                  <c:v>0.44800000000000001</c:v>
                </c:pt>
                <c:pt idx="5">
                  <c:v>-3.8370000000000002</c:v>
                </c:pt>
                <c:pt idx="6">
                  <c:v>-8.1219999999999999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F03-4D9E-BFE5-A47E82B4D10A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Umbral 15%</c:v>
                </c:pt>
              </c:strCache>
            </c:strRef>
          </c:tx>
          <c:spPr>
            <a:ln w="28575" cap="flat">
              <a:solidFill>
                <a:srgbClr val="B86E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6E00"/>
              </a:solidFill>
              <a:ln w="9525" cap="flat">
                <a:solidFill>
                  <a:srgbClr val="B86E0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F03-4D9E-BFE5-A47E82B4D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C"/>
                    </a:solidFill>
                    <a:latin typeface="+mn-lt"/>
                  </a:defRPr>
                </a:pPr>
                <a:r>
                  <a:rPr lang="es-CO" sz="1000" b="0" i="0" u="none" strike="noStrike">
                    <a:solidFill>
                      <a:srgbClr val="5B6B7C"/>
                    </a:solidFill>
                    <a:latin typeface="+mn-lt"/>
                  </a:rPr>
                  <a:t>Descuento aplicado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+mn-lt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-10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C"/>
                    </a:solidFill>
                    <a:latin typeface="+mn-lt"/>
                  </a:defRPr>
                </a:pPr>
                <a:r>
                  <a:rPr lang="es-CO" sz="1000" b="0" i="0" u="none" strike="noStrike">
                    <a:solidFill>
                      <a:srgbClr val="5B6B7C"/>
                    </a:solidFill>
                    <a:latin typeface="+mn-lt"/>
                  </a:rPr>
                  <a:t>Margen de utilidad predicho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+mn-lt"/>
              </a:defRPr>
            </a:pPr>
            <a:endParaRPr lang="es-CO"/>
          </a:p>
        </c:txPr>
        <c:crossAx val="2094734554"/>
        <c:crosses val="autoZero"/>
        <c:crossBetween val="between"/>
        <c:majorUnit val="10"/>
      </c:valAx>
      <c:spPr>
        <a:solidFill>
          <a:srgbClr val="F4F6F8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B6B7C"/>
              </a:solidFill>
              <a:latin typeface="+mn-lt"/>
              <a:cs typeface="+mn-lt"/>
            </a:defRPr>
          </a:pPr>
          <a:endParaRPr lang="es-CO"/>
        </a:p>
      </c:txPr>
    </c:legend>
    <c:plotVisOnly val="1"/>
    <c:dispBlanksAs val="span"/>
    <c:showDLblsOverMax val="1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72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1"/>
          <p:cNvSpPr/>
          <p:nvPr/>
        </p:nvSpPr>
        <p:spPr>
          <a:xfrm>
            <a:off x="7863840" y="-2011680"/>
            <a:ext cx="5120640" cy="5120640"/>
          </a:xfrm>
          <a:prstGeom prst="ellipse">
            <a:avLst/>
          </a:prstGeom>
          <a:solidFill>
            <a:srgbClr val="1E6B4E">
              <a:alpha val="30000"/>
            </a:srgbClr>
          </a:solidFill>
          <a:ln w="12700">
            <a:solidFill>
              <a:srgbClr val="1E6B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círculo 2"/>
          <p:cNvSpPr/>
          <p:nvPr/>
        </p:nvSpPr>
        <p:spPr>
          <a:xfrm>
            <a:off x="9326880" y="3291840"/>
            <a:ext cx="4023360" cy="4023360"/>
          </a:xfrm>
          <a:prstGeom prst="ellipse">
            <a:avLst/>
          </a:prstGeom>
          <a:solidFill>
            <a:srgbClr val="19C37D">
              <a:alpha val="20000"/>
            </a:srgbClr>
          </a:solidFill>
          <a:ln w="12700">
            <a:solidFill>
              <a:srgbClr val="19C3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13816" y="8138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 FINAL · MODELO PREDICTIVO · VENTAS 2022–2025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325880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¿Qué está explicando realmente la rentabilidad?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Análisis predictivo del margen de utilidad · Ventas 2022–2025</a:t>
            </a:r>
            <a:endParaRPr lang="en-US" sz="1600" dirty="0"/>
          </a:p>
        </p:txBody>
      </p:sp>
      <p:sp>
        <p:nvSpPr>
          <p:cNvPr id="7" name="KPI TRANSACCIONES"/>
          <p:cNvSpPr/>
          <p:nvPr/>
        </p:nvSpPr>
        <p:spPr>
          <a:xfrm>
            <a:off x="813816" y="3246120"/>
            <a:ext cx="2523744" cy="1463040"/>
          </a:xfrm>
          <a:prstGeom prst="roundRect">
            <a:avLst>
              <a:gd name="adj" fmla="val 10000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 txBox="1"/>
          <p:nvPr/>
        </p:nvSpPr>
        <p:spPr>
          <a:xfrm>
            <a:off x="1069848" y="3429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TRANSACCIONES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36850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18.000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4270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2022–2025 · tras eliminar duplicados</a:t>
            </a:r>
            <a:endParaRPr lang="en-US" sz="1050" dirty="0"/>
          </a:p>
        </p:txBody>
      </p:sp>
      <p:sp>
        <p:nvSpPr>
          <p:cNvPr id="11" name="KPI VENTAS TOTALES"/>
          <p:cNvSpPr/>
          <p:nvPr/>
        </p:nvSpPr>
        <p:spPr>
          <a:xfrm>
            <a:off x="3493008" y="3246120"/>
            <a:ext cx="2523744" cy="1463040"/>
          </a:xfrm>
          <a:prstGeom prst="roundRect">
            <a:avLst>
              <a:gd name="adj" fmla="val 10000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3749040" y="3429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VENTAS TOTALES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6850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$8,23 M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270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Sales_Amount · cifras en USD</a:t>
            </a:r>
            <a:endParaRPr lang="en-US" sz="1050" dirty="0"/>
          </a:p>
        </p:txBody>
      </p:sp>
      <p:sp>
        <p:nvSpPr>
          <p:cNvPr id="15" name="KPI UTILIDAD TOTAL"/>
          <p:cNvSpPr/>
          <p:nvPr/>
        </p:nvSpPr>
        <p:spPr>
          <a:xfrm>
            <a:off x="6172200" y="3246120"/>
            <a:ext cx="2523744" cy="1463040"/>
          </a:xfrm>
          <a:prstGeom prst="roundRect">
            <a:avLst>
              <a:gd name="adj" fmla="val 10000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6428232" y="3429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UTILIDAD TOTAL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36850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C37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$1,65 M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4270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Profit reportado en el dataset</a:t>
            </a:r>
            <a:endParaRPr lang="en-US" sz="1050" dirty="0"/>
          </a:p>
        </p:txBody>
      </p:sp>
      <p:sp>
        <p:nvSpPr>
          <p:cNvPr id="19" name="KPI MARGEN GLOBAL"/>
          <p:cNvSpPr/>
          <p:nvPr/>
        </p:nvSpPr>
        <p:spPr>
          <a:xfrm>
            <a:off x="8851392" y="3246120"/>
            <a:ext cx="2523744" cy="1463040"/>
          </a:xfrm>
          <a:prstGeom prst="roundRect">
            <a:avLst>
              <a:gd name="adj" fmla="val 10000"/>
            </a:avLst>
          </a:prstGeom>
          <a:solidFill>
            <a:srgbClr val="19C37D"/>
          </a:solidFill>
          <a:ln w="635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9107424" y="3429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1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MARGEN GLOBAL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07424" y="36850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B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19,98%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107424" y="4270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0B1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Utilidad ÷ ventas · línea de referencia</a:t>
            </a:r>
            <a:endParaRPr lang="en-US" sz="1050" dirty="0"/>
          </a:p>
        </p:txBody>
      </p:sp>
      <p:sp>
        <p:nvSpPr>
          <p:cNvPr id="23" name="chip TARGET"/>
          <p:cNvSpPr/>
          <p:nvPr/>
        </p:nvSpPr>
        <p:spPr>
          <a:xfrm>
            <a:off x="813816" y="4846320"/>
            <a:ext cx="3383280" cy="566928"/>
          </a:xfrm>
          <a:prstGeom prst="roundRect">
            <a:avLst>
              <a:gd name="adj" fmla="val 25806"/>
            </a:avLst>
          </a:prstGeom>
          <a:solidFill>
            <a:srgbClr val="12263A"/>
          </a:solidFill>
          <a:ln w="635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 txBox="1"/>
          <p:nvPr/>
        </p:nvSpPr>
        <p:spPr>
          <a:xfrm>
            <a:off x="1014984" y="4846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 </a:t>
            </a:r>
            <a:r>
              <a:rPr lang="en-US" sz="1500" b="1" dirty="0">
                <a:solidFill>
                  <a:srgbClr val="19C37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Profit_Margin (%)</a:t>
            </a:r>
            <a:endParaRPr lang="en-US" sz="1000" dirty="0"/>
          </a:p>
        </p:txBody>
      </p:sp>
      <p:sp>
        <p:nvSpPr>
          <p:cNvPr id="25" name="chip TIPO DE PROBLEMA"/>
          <p:cNvSpPr/>
          <p:nvPr/>
        </p:nvSpPr>
        <p:spPr>
          <a:xfrm>
            <a:off x="4407408" y="4846320"/>
            <a:ext cx="3383280" cy="566928"/>
          </a:xfrm>
          <a:prstGeom prst="roundRect">
            <a:avLst>
              <a:gd name="adj" fmla="val 25806"/>
            </a:avLst>
          </a:prstGeom>
          <a:solidFill>
            <a:srgbClr val="12263A"/>
          </a:solidFill>
          <a:ln w="635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4608576" y="4846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TIPO DE PROBLEMA  </a:t>
            </a:r>
            <a:r>
              <a:rPr lang="en-US" sz="15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</a:t>
            </a:r>
            <a:endParaRPr lang="en-US" sz="1000" dirty="0"/>
          </a:p>
        </p:txBody>
      </p:sp>
      <p:sp>
        <p:nvSpPr>
          <p:cNvPr id="27" name="chip PERIODO"/>
          <p:cNvSpPr/>
          <p:nvPr/>
        </p:nvSpPr>
        <p:spPr>
          <a:xfrm>
            <a:off x="8001000" y="4846320"/>
            <a:ext cx="3383280" cy="566928"/>
          </a:xfrm>
          <a:prstGeom prst="roundRect">
            <a:avLst>
              <a:gd name="adj" fmla="val 25806"/>
            </a:avLst>
          </a:prstGeom>
          <a:solidFill>
            <a:srgbClr val="12263A"/>
          </a:solidFill>
          <a:ln w="635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 txBox="1"/>
          <p:nvPr/>
        </p:nvSpPr>
        <p:spPr>
          <a:xfrm>
            <a:off x="8202168" y="4846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PERIODO  </a:t>
            </a:r>
            <a:r>
              <a:rPr lang="en-US" sz="15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2022 – 2025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" y="5577840"/>
            <a:ext cx="10570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Pregunta central: </a:t>
            </a:r>
            <a:r>
              <a:rPr lang="en-US" sz="125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¿qué variables ayudan realmente a explicar y predecir el margen de ganancia?  </a:t>
            </a:r>
            <a:r>
              <a:rPr lang="en-US" sz="12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buscamos únicamente dónde se vende más, sino qué características están asociadas con una mayor eficiencia económica.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PRINCIPAL HALLAZGO DEL EDA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Q4: más volumen, pero menor eficiencia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2362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A5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GRÁFICO A · DESCUENTO PROMEDIO (%)</a:t>
            </a:r>
            <a:endParaRPr lang="en-US" sz="1050" dirty="0"/>
          </a:p>
        </p:txBody>
      </p:sp>
      <p:sp>
        <p:nvSpPr>
          <p:cNvPr id="7" name="eje"/>
          <p:cNvSpPr/>
          <p:nvPr/>
        </p:nvSpPr>
        <p:spPr>
          <a:xfrm>
            <a:off x="813816" y="4434840"/>
            <a:ext cx="329184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barra Q1–Q3"/>
          <p:cNvSpPr/>
          <p:nvPr/>
        </p:nvSpPr>
        <p:spPr>
          <a:xfrm>
            <a:off x="1353312" y="3794760"/>
            <a:ext cx="566928" cy="64008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987552" y="348386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5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4,00%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Q1–Q3</a:t>
            </a:r>
            <a:endParaRPr lang="en-US" sz="1300" dirty="0"/>
          </a:p>
        </p:txBody>
      </p:sp>
      <p:sp>
        <p:nvSpPr>
          <p:cNvPr id="11" name="barra Q4"/>
          <p:cNvSpPr/>
          <p:nvPr/>
        </p:nvSpPr>
        <p:spPr>
          <a:xfrm>
            <a:off x="2999232" y="2689022"/>
            <a:ext cx="566928" cy="174581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2633472" y="237812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5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10,91%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459736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5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1874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GRÁFICO B · MARGEN AGREGADO (%)</a:t>
            </a:r>
            <a:endParaRPr lang="en-US" sz="1050" dirty="0"/>
          </a:p>
        </p:txBody>
      </p:sp>
      <p:sp>
        <p:nvSpPr>
          <p:cNvPr id="15" name="eje"/>
          <p:cNvSpPr/>
          <p:nvPr/>
        </p:nvSpPr>
        <p:spPr>
          <a:xfrm>
            <a:off x="4526280" y="4434840"/>
            <a:ext cx="329184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barra Q1–Q3"/>
          <p:cNvSpPr/>
          <p:nvPr/>
        </p:nvSpPr>
        <p:spPr>
          <a:xfrm>
            <a:off x="5065776" y="2684221"/>
            <a:ext cx="566928" cy="1750619"/>
          </a:xfrm>
          <a:prstGeom prst="rect">
            <a:avLst/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4700016" y="2373325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21,88%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Q1–Q3</a:t>
            </a:r>
            <a:endParaRPr lang="en-US" sz="1300" dirty="0"/>
          </a:p>
        </p:txBody>
      </p:sp>
      <p:sp>
        <p:nvSpPr>
          <p:cNvPr id="19" name="barra Q4"/>
          <p:cNvSpPr/>
          <p:nvPr/>
        </p:nvSpPr>
        <p:spPr>
          <a:xfrm>
            <a:off x="6711696" y="3147479"/>
            <a:ext cx="566928" cy="1287361"/>
          </a:xfrm>
          <a:prstGeom prst="rect">
            <a:avLst/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6345936" y="2836583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16,09%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5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Q4</a:t>
            </a:r>
            <a:endParaRPr lang="en-US" sz="1300" dirty="0"/>
          </a:p>
        </p:txBody>
      </p:sp>
      <p:sp>
        <p:nvSpPr>
          <p:cNvPr id="22" name="ventas Q4"/>
          <p:cNvSpPr/>
          <p:nvPr/>
        </p:nvSpPr>
        <p:spPr>
          <a:xfrm>
            <a:off x="8458200" y="1874520"/>
            <a:ext cx="2916936" cy="841248"/>
          </a:xfrm>
          <a:prstGeom prst="roundRect">
            <a:avLst>
              <a:gd name="adj" fmla="val 17391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8641080" y="19659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9C37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$2,70 M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ventas en Q4 (5.866 transacciones) frente a $5,54 M en Q1–Q3 (12.134)</a:t>
            </a:r>
            <a:endParaRPr lang="en-US" sz="1000" dirty="0"/>
          </a:p>
        </p:txBody>
      </p:sp>
      <p:sp>
        <p:nvSpPr>
          <p:cNvPr id="25" name="utilidad Q4"/>
          <p:cNvSpPr/>
          <p:nvPr/>
        </p:nvSpPr>
        <p:spPr>
          <a:xfrm>
            <a:off x="8458200" y="2807208"/>
            <a:ext cx="2916936" cy="841248"/>
          </a:xfrm>
          <a:prstGeom prst="roundRect">
            <a:avLst>
              <a:gd name="adj" fmla="val 17391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8641080" y="2898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$434 mil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32186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utilidad en Q4 frente a $1,21 M en los tres trimestres de Q1–Q3</a:t>
            </a:r>
            <a:endParaRPr lang="en-US" sz="1000" dirty="0"/>
          </a:p>
        </p:txBody>
      </p:sp>
      <p:sp>
        <p:nvSpPr>
          <p:cNvPr id="28" name="+45%"/>
          <p:cNvSpPr/>
          <p:nvPr/>
        </p:nvSpPr>
        <p:spPr>
          <a:xfrm>
            <a:off x="8458200" y="3739896"/>
            <a:ext cx="2916936" cy="960120"/>
          </a:xfrm>
          <a:prstGeom prst="roundRect">
            <a:avLst>
              <a:gd name="adj" fmla="val 15238"/>
            </a:avLst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8641080" y="38313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B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+45%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0" y="41513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transacciones en Q4 frente a un trimestre promedio de Q1–Q3 (5.866 vs. 4.045)</a:t>
            </a:r>
            <a:endParaRPr lang="en-US" sz="1000" dirty="0"/>
          </a:p>
        </p:txBody>
      </p:sp>
      <p:sp>
        <p:nvSpPr>
          <p:cNvPr id="31" name="banner"/>
          <p:cNvSpPr/>
          <p:nvPr/>
        </p:nvSpPr>
        <p:spPr>
          <a:xfrm>
            <a:off x="813816" y="4892040"/>
            <a:ext cx="10570464" cy="722376"/>
          </a:xfrm>
          <a:prstGeom prst="roundRect">
            <a:avLst>
              <a:gd name="adj" fmla="val 15190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1005840" y="4892040"/>
            <a:ext cx="274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B2B"/>
                </a:solidFill>
              </a:rPr>
              <a:t>◉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289304" y="4965192"/>
            <a:ext cx="9966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Q4 aumenta el volumen y la intensidad de descuentos, mientras disminuye la eficiencia. </a:t>
            </a:r>
            <a:r>
              <a:rPr lang="en-US" sz="1300" dirty="0">
                <a:solidFill>
                  <a:srgbClr val="0B1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descuento promedio pasa de 4,00% a 10,91% y el margen agregado de 21,88% a 16,09%. Es una asociación observada, no una relación causal.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" y="57150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5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Pregunta de transición: </a:t>
            </a: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¿el menor margen pertenece realmente al trimestre o se explica mejor por producto y condiciones comerciales?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DEL EDA A UN MODELO PREDICTIVO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la observación a un modelo que predice el margen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2362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paso 1"/>
          <p:cNvSpPr/>
          <p:nvPr/>
        </p:nvSpPr>
        <p:spPr>
          <a:xfrm>
            <a:off x="813816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Variables disponibles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1783080"/>
            <a:ext cx="1801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</a:rPr>
              <a:t>›</a:t>
            </a:r>
            <a:endParaRPr lang="en-US" sz="1400" dirty="0"/>
          </a:p>
        </p:txBody>
      </p:sp>
      <p:sp>
        <p:nvSpPr>
          <p:cNvPr id="9" name="paso 2"/>
          <p:cNvSpPr/>
          <p:nvPr/>
        </p:nvSpPr>
        <p:spPr>
          <a:xfrm>
            <a:off x="2347265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2347265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Preprocesamiento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709721" y="1783080"/>
            <a:ext cx="1801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</a:rPr>
              <a:t>›</a:t>
            </a:r>
            <a:endParaRPr lang="en-US" sz="1400" dirty="0"/>
          </a:p>
        </p:txBody>
      </p:sp>
      <p:sp>
        <p:nvSpPr>
          <p:cNvPr id="12" name="paso 3"/>
          <p:cNvSpPr/>
          <p:nvPr/>
        </p:nvSpPr>
        <p:spPr>
          <a:xfrm>
            <a:off x="3880714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3880714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Cross-validation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43170" y="1783080"/>
            <a:ext cx="1801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</a:rPr>
              <a:t>›</a:t>
            </a:r>
            <a:endParaRPr lang="en-US" sz="1400" dirty="0"/>
          </a:p>
        </p:txBody>
      </p:sp>
      <p:sp>
        <p:nvSpPr>
          <p:cNvPr id="15" name="paso 4"/>
          <p:cNvSpPr/>
          <p:nvPr/>
        </p:nvSpPr>
        <p:spPr>
          <a:xfrm>
            <a:off x="5414162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5414162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Comparación de modelos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776618" y="1783080"/>
            <a:ext cx="1801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</a:rPr>
              <a:t>›</a:t>
            </a:r>
            <a:endParaRPr lang="en-US" sz="1400" dirty="0"/>
          </a:p>
        </p:txBody>
      </p:sp>
      <p:sp>
        <p:nvSpPr>
          <p:cNvPr id="18" name="paso 5"/>
          <p:cNvSpPr/>
          <p:nvPr/>
        </p:nvSpPr>
        <p:spPr>
          <a:xfrm>
            <a:off x="6947611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6947611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Tuning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310067" y="1783080"/>
            <a:ext cx="1801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</a:rPr>
              <a:t>›</a:t>
            </a:r>
            <a:endParaRPr lang="en-US" sz="1400" dirty="0"/>
          </a:p>
        </p:txBody>
      </p:sp>
      <p:sp>
        <p:nvSpPr>
          <p:cNvPr id="21" name="paso 6"/>
          <p:cNvSpPr/>
          <p:nvPr/>
        </p:nvSpPr>
        <p:spPr>
          <a:xfrm>
            <a:off x="848106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848106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final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43516" y="1783080"/>
            <a:ext cx="1801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</a:rPr>
              <a:t>›</a:t>
            </a:r>
            <a:endParaRPr lang="en-US" sz="1400" dirty="0"/>
          </a:p>
        </p:txBody>
      </p:sp>
      <p:sp>
        <p:nvSpPr>
          <p:cNvPr id="24" name="paso 7"/>
          <p:cNvSpPr/>
          <p:nvPr/>
        </p:nvSpPr>
        <p:spPr>
          <a:xfrm>
            <a:off x="10014509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10014509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reservado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" y="23957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8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COMPARACIÓN DE MODELOS · MAE EN VALIDACIÓN CRUZADA (MENOR = MEJOR)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" y="269748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Regresión lineal</a:t>
            </a:r>
            <a:endParaRPr lang="en-US" sz="1200" dirty="0"/>
          </a:p>
        </p:txBody>
      </p:sp>
      <p:sp>
        <p:nvSpPr>
          <p:cNvPr id="28" name="barra Regresión lineal"/>
          <p:cNvSpPr/>
          <p:nvPr/>
        </p:nvSpPr>
        <p:spPr>
          <a:xfrm>
            <a:off x="2734056" y="2729484"/>
            <a:ext cx="957767" cy="219456"/>
          </a:xfrm>
          <a:prstGeom prst="roundRect">
            <a:avLst>
              <a:gd name="adj" fmla="val 33333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3783263" y="269748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1,95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3072384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Ridge</a:t>
            </a:r>
            <a:endParaRPr lang="en-US" sz="1200" dirty="0"/>
          </a:p>
        </p:txBody>
      </p:sp>
      <p:sp>
        <p:nvSpPr>
          <p:cNvPr id="31" name="barra Ridge"/>
          <p:cNvSpPr/>
          <p:nvPr/>
        </p:nvSpPr>
        <p:spPr>
          <a:xfrm>
            <a:off x="2734056" y="3104388"/>
            <a:ext cx="958160" cy="219456"/>
          </a:xfrm>
          <a:prstGeom prst="roundRect">
            <a:avLst>
              <a:gd name="adj" fmla="val 3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3783656" y="307238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1,95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" y="3447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4" name="barra Random Forest"/>
          <p:cNvSpPr/>
          <p:nvPr/>
        </p:nvSpPr>
        <p:spPr>
          <a:xfrm>
            <a:off x="2734056" y="3479292"/>
            <a:ext cx="969857" cy="219456"/>
          </a:xfrm>
          <a:prstGeom prst="roundRect">
            <a:avLst>
              <a:gd name="adj" fmla="val 3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 txBox="1"/>
          <p:nvPr/>
        </p:nvSpPr>
        <p:spPr>
          <a:xfrm>
            <a:off x="3795353" y="344728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1,97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" y="382219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37" name="barra Gradient Boosting"/>
          <p:cNvSpPr/>
          <p:nvPr/>
        </p:nvSpPr>
        <p:spPr>
          <a:xfrm>
            <a:off x="2734056" y="3854196"/>
            <a:ext cx="989959" cy="219456"/>
          </a:xfrm>
          <a:prstGeom prst="roundRect">
            <a:avLst>
              <a:gd name="adj" fmla="val 3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3815455" y="382219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2,01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13816" y="4197096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Árbol de decisión</a:t>
            </a:r>
            <a:endParaRPr lang="en-US" sz="1200" dirty="0"/>
          </a:p>
        </p:txBody>
      </p:sp>
      <p:sp>
        <p:nvSpPr>
          <p:cNvPr id="40" name="barra Árbol de decisión"/>
          <p:cNvSpPr/>
          <p:nvPr/>
        </p:nvSpPr>
        <p:spPr>
          <a:xfrm>
            <a:off x="2734056" y="4229100"/>
            <a:ext cx="1067909" cy="219456"/>
          </a:xfrm>
          <a:prstGeom prst="roundRect">
            <a:avLst>
              <a:gd name="adj" fmla="val 3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 txBox="1"/>
          <p:nvPr/>
        </p:nvSpPr>
        <p:spPr>
          <a:xfrm>
            <a:off x="3893405" y="419709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2,17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" y="457200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KNN</a:t>
            </a:r>
            <a:endParaRPr lang="en-US" sz="1200" dirty="0"/>
          </a:p>
        </p:txBody>
      </p:sp>
      <p:sp>
        <p:nvSpPr>
          <p:cNvPr id="43" name="barra KNN"/>
          <p:cNvSpPr/>
          <p:nvPr/>
        </p:nvSpPr>
        <p:spPr>
          <a:xfrm>
            <a:off x="2734056" y="4604004"/>
            <a:ext cx="2123679" cy="219456"/>
          </a:xfrm>
          <a:prstGeom prst="roundRect">
            <a:avLst>
              <a:gd name="adj" fmla="val 3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 txBox="1"/>
          <p:nvPr/>
        </p:nvSpPr>
        <p:spPr>
          <a:xfrm>
            <a:off x="4949175" y="457200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4,32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" y="4946904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Dummy (media)</a:t>
            </a:r>
            <a:endParaRPr lang="en-US" sz="1200" dirty="0"/>
          </a:p>
        </p:txBody>
      </p:sp>
      <p:sp>
        <p:nvSpPr>
          <p:cNvPr id="46" name="barra Dummy (media)"/>
          <p:cNvSpPr/>
          <p:nvPr/>
        </p:nvSpPr>
        <p:spPr>
          <a:xfrm>
            <a:off x="2734056" y="4978908"/>
            <a:ext cx="3847040" cy="219456"/>
          </a:xfrm>
          <a:prstGeom prst="roundRect">
            <a:avLst>
              <a:gd name="adj" fmla="val 33333"/>
            </a:avLst>
          </a:prstGeom>
          <a:solidFill>
            <a:srgbClr val="A9B8C7"/>
          </a:solidFill>
          <a:ln w="12700">
            <a:solidFill>
              <a:srgbClr val="A9B8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 txBox="1"/>
          <p:nvPr/>
        </p:nvSpPr>
        <p:spPr>
          <a:xfrm>
            <a:off x="6672536" y="494690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7,83</a:t>
            </a:r>
            <a:endParaRPr lang="en-US" sz="1200" dirty="0"/>
          </a:p>
        </p:txBody>
      </p:sp>
      <p:sp>
        <p:nvSpPr>
          <p:cNvPr id="48" name="modelo final"/>
          <p:cNvSpPr/>
          <p:nvPr/>
        </p:nvSpPr>
        <p:spPr>
          <a:xfrm>
            <a:off x="7818120" y="2395728"/>
            <a:ext cx="3566160" cy="685800"/>
          </a:xfrm>
          <a:prstGeom prst="roundRect">
            <a:avLst>
              <a:gd name="adj" fmla="val 21333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 txBox="1"/>
          <p:nvPr/>
        </p:nvSpPr>
        <p:spPr>
          <a:xfrm>
            <a:off x="8019288" y="23957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FINAL  </a:t>
            </a: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 lineal</a:t>
            </a:r>
            <a:endParaRPr lang="en-US" sz="1000" dirty="0"/>
          </a:p>
        </p:txBody>
      </p:sp>
      <p:sp>
        <p:nvSpPr>
          <p:cNvPr id="50" name="KPI MAE TEST"/>
          <p:cNvSpPr/>
          <p:nvPr/>
        </p:nvSpPr>
        <p:spPr>
          <a:xfrm>
            <a:off x="7818120" y="3200400"/>
            <a:ext cx="17373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 txBox="1"/>
          <p:nvPr/>
        </p:nvSpPr>
        <p:spPr>
          <a:xfrm>
            <a:off x="8074152" y="338328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MAE TEST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074152" y="3639312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1,83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8074152" y="395020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puntos de margen</a:t>
            </a:r>
            <a:endParaRPr lang="en-US" sz="1050" dirty="0"/>
          </a:p>
        </p:txBody>
      </p:sp>
      <p:sp>
        <p:nvSpPr>
          <p:cNvPr id="54" name="KPI RMSE TEST"/>
          <p:cNvSpPr/>
          <p:nvPr/>
        </p:nvSpPr>
        <p:spPr>
          <a:xfrm>
            <a:off x="9646920" y="3200400"/>
            <a:ext cx="17373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 txBox="1"/>
          <p:nvPr/>
        </p:nvSpPr>
        <p:spPr>
          <a:xfrm>
            <a:off x="9902952" y="338328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RMSE TEST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9902952" y="3639312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3,74</a:t>
            </a:r>
            <a:endParaRPr lang="en-US" sz="2400" dirty="0"/>
          </a:p>
        </p:txBody>
      </p:sp>
      <p:sp>
        <p:nvSpPr>
          <p:cNvPr id="57" name="Text 55"/>
          <p:cNvSpPr txBox="1"/>
          <p:nvPr/>
        </p:nvSpPr>
        <p:spPr>
          <a:xfrm>
            <a:off x="9902952" y="395020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puntos de margen</a:t>
            </a:r>
            <a:endParaRPr lang="en-US" sz="1050" dirty="0"/>
          </a:p>
        </p:txBody>
      </p:sp>
      <p:sp>
        <p:nvSpPr>
          <p:cNvPr id="58" name="KPI R² TEST"/>
          <p:cNvSpPr/>
          <p:nvPr/>
        </p:nvSpPr>
        <p:spPr>
          <a:xfrm>
            <a:off x="7818120" y="4480560"/>
            <a:ext cx="17373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 txBox="1"/>
          <p:nvPr/>
        </p:nvSpPr>
        <p:spPr>
          <a:xfrm>
            <a:off x="8074152" y="466344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TEST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074152" y="4919472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8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0,86</a:t>
            </a:r>
            <a:endParaRPr lang="en-US" sz="2400" dirty="0"/>
          </a:p>
        </p:txBody>
      </p:sp>
      <p:sp>
        <p:nvSpPr>
          <p:cNvPr id="61" name="Text 59"/>
          <p:cNvSpPr txBox="1"/>
          <p:nvPr/>
        </p:nvSpPr>
        <p:spPr>
          <a:xfrm>
            <a:off x="8074152" y="523036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variabilidad explicada</a:t>
            </a:r>
            <a:endParaRPr lang="en-US" sz="1050" dirty="0"/>
          </a:p>
        </p:txBody>
      </p:sp>
      <p:sp>
        <p:nvSpPr>
          <p:cNvPr id="62" name="KPI VS. DUMMY"/>
          <p:cNvSpPr/>
          <p:nvPr/>
        </p:nvSpPr>
        <p:spPr>
          <a:xfrm>
            <a:off x="9646920" y="4480560"/>
            <a:ext cx="17373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 txBox="1"/>
          <p:nvPr/>
        </p:nvSpPr>
        <p:spPr>
          <a:xfrm>
            <a:off x="9902952" y="466344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VS. DUMMY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9902952" y="4919472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8A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−76%</a:t>
            </a:r>
            <a:endParaRPr lang="en-US" sz="2400" dirty="0"/>
          </a:p>
        </p:txBody>
      </p:sp>
      <p:sp>
        <p:nvSpPr>
          <p:cNvPr id="65" name="Text 63"/>
          <p:cNvSpPr txBox="1"/>
          <p:nvPr/>
        </p:nvSpPr>
        <p:spPr>
          <a:xfrm>
            <a:off x="9902952" y="5230368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error (7,76 → 1,83)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813816" y="53218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MAE: </a:t>
            </a:r>
            <a:r>
              <a:rPr lang="en-US" sz="9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 absoluto promedio del modelo en puntos porcentuales de margen (no un intervalo garantizado para cada predicción).   </a:t>
            </a:r>
            <a:r>
              <a:rPr lang="en-US" sz="950" b="1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R²: </a:t>
            </a:r>
            <a:r>
              <a:rPr lang="en-US" sz="9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proporción de la variabilidad observada del margen que puede explicar el modelo.</a:t>
            </a:r>
            <a:endParaRPr lang="en-US" sz="950" dirty="0"/>
          </a:p>
        </p:txBody>
      </p:sp>
      <p:sp>
        <p:nvSpPr>
          <p:cNvPr id="67" name="banner"/>
          <p:cNvSpPr/>
          <p:nvPr/>
        </p:nvSpPr>
        <p:spPr>
          <a:xfrm>
            <a:off x="813816" y="5742432"/>
            <a:ext cx="10570464" cy="457200"/>
          </a:xfrm>
          <a:prstGeom prst="roundRect">
            <a:avLst>
              <a:gd name="adj" fmla="val 24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 txBox="1"/>
          <p:nvPr/>
        </p:nvSpPr>
        <p:spPr>
          <a:xfrm>
            <a:off x="1005840" y="57424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◉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1289304" y="581558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modelo final fue elegido combinando desempeño predictivo y parsimonia, no únicamente por complejidad: 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lineal, Ridge y los ensambles afinados empatan en MAE de CV (diferencia &lt; 1%), y el más simple generaliza igual de bien en el test reservado.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VARIABLES Y DIMENSIONES QUE MÁS IMPORTAN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Producto y descuento concentran la señal predictiva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2362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187452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IMPORTANCIA PREDICTIVA · AUMENTO DEL MAE AL PERMUTAR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2402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Product_Name</a:t>
            </a:r>
            <a:endParaRPr lang="en-US" sz="1200" dirty="0"/>
          </a:p>
        </p:txBody>
      </p:sp>
      <p:sp>
        <p:nvSpPr>
          <p:cNvPr id="8" name="barra Product_Name"/>
          <p:cNvSpPr/>
          <p:nvPr/>
        </p:nvSpPr>
        <p:spPr>
          <a:xfrm>
            <a:off x="2779776" y="2276856"/>
            <a:ext cx="2985364" cy="219456"/>
          </a:xfrm>
          <a:prstGeom prst="roundRect">
            <a:avLst>
              <a:gd name="adj" fmla="val 33333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5856580" y="22402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6,44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26243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Discount_Percentage</a:t>
            </a:r>
            <a:endParaRPr lang="en-US" sz="1200" dirty="0"/>
          </a:p>
        </p:txBody>
      </p:sp>
      <p:sp>
        <p:nvSpPr>
          <p:cNvPr id="11" name="barra Discount_Percentage"/>
          <p:cNvSpPr/>
          <p:nvPr/>
        </p:nvSpPr>
        <p:spPr>
          <a:xfrm>
            <a:off x="2779776" y="2660904"/>
            <a:ext cx="2262638" cy="219456"/>
          </a:xfrm>
          <a:prstGeom prst="roundRect">
            <a:avLst>
              <a:gd name="adj" fmla="val 33333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5133854" y="26243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4,88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30083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Product_Category</a:t>
            </a:r>
            <a:endParaRPr lang="en-US" sz="1200" dirty="0"/>
          </a:p>
        </p:txBody>
      </p:sp>
      <p:sp>
        <p:nvSpPr>
          <p:cNvPr id="14" name="barra Product_Category"/>
          <p:cNvSpPr/>
          <p:nvPr/>
        </p:nvSpPr>
        <p:spPr>
          <a:xfrm>
            <a:off x="2779776" y="3044952"/>
            <a:ext cx="2180233" cy="219456"/>
          </a:xfrm>
          <a:prstGeom prst="roundRect">
            <a:avLst>
              <a:gd name="adj" fmla="val 33333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 txBox="1"/>
          <p:nvPr/>
        </p:nvSpPr>
        <p:spPr>
          <a:xfrm>
            <a:off x="5051449" y="3008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4,70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33924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Unit_Price</a:t>
            </a:r>
            <a:endParaRPr lang="en-US" sz="1200" dirty="0"/>
          </a:p>
        </p:txBody>
      </p:sp>
      <p:sp>
        <p:nvSpPr>
          <p:cNvPr id="17" name="barra Unit_Price"/>
          <p:cNvSpPr/>
          <p:nvPr/>
        </p:nvSpPr>
        <p:spPr>
          <a:xfrm>
            <a:off x="2779776" y="3429000"/>
            <a:ext cx="735942" cy="219456"/>
          </a:xfrm>
          <a:prstGeom prst="roundRect">
            <a:avLst>
              <a:gd name="adj" fmla="val 33333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3607158" y="33924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1,59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" y="3776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Inventory_Level</a:t>
            </a:r>
            <a:endParaRPr lang="en-US" sz="1200" dirty="0"/>
          </a:p>
        </p:txBody>
      </p:sp>
      <p:sp>
        <p:nvSpPr>
          <p:cNvPr id="20" name="barra Inventory_Level"/>
          <p:cNvSpPr/>
          <p:nvPr/>
        </p:nvSpPr>
        <p:spPr>
          <a:xfrm>
            <a:off x="2779776" y="3813048"/>
            <a:ext cx="27432" cy="219456"/>
          </a:xfrm>
          <a:prstGeom prst="roundRect">
            <a:avLst>
              <a:gd name="adj" fmla="val 266667"/>
            </a:avLst>
          </a:prstGeom>
          <a:solidFill>
            <a:srgbClr val="A9B8C7"/>
          </a:solidFill>
          <a:ln w="12700">
            <a:solidFill>
              <a:srgbClr val="A9B8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2898648" y="37764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" y="41605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Customer_Segment</a:t>
            </a:r>
            <a:endParaRPr lang="en-US" sz="1200" dirty="0"/>
          </a:p>
        </p:txBody>
      </p:sp>
      <p:sp>
        <p:nvSpPr>
          <p:cNvPr id="23" name="barra Customer_Segment"/>
          <p:cNvSpPr/>
          <p:nvPr/>
        </p:nvSpPr>
        <p:spPr>
          <a:xfrm>
            <a:off x="2779776" y="4197096"/>
            <a:ext cx="27432" cy="219456"/>
          </a:xfrm>
          <a:prstGeom prst="roundRect">
            <a:avLst>
              <a:gd name="adj" fmla="val 266667"/>
            </a:avLst>
          </a:prstGeom>
          <a:solidFill>
            <a:srgbClr val="A9B8C7"/>
          </a:solidFill>
          <a:ln w="12700">
            <a:solidFill>
              <a:srgbClr val="A9B8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 txBox="1"/>
          <p:nvPr/>
        </p:nvSpPr>
        <p:spPr>
          <a:xfrm>
            <a:off x="2898648" y="4160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" y="45445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Otras 11 variables</a:t>
            </a:r>
            <a:endParaRPr lang="en-US" sz="1200" dirty="0"/>
          </a:p>
        </p:txBody>
      </p:sp>
      <p:sp>
        <p:nvSpPr>
          <p:cNvPr id="26" name="barra Otras 11 variables"/>
          <p:cNvSpPr/>
          <p:nvPr/>
        </p:nvSpPr>
        <p:spPr>
          <a:xfrm>
            <a:off x="2779776" y="4581144"/>
            <a:ext cx="27432" cy="219456"/>
          </a:xfrm>
          <a:prstGeom prst="roundRect">
            <a:avLst>
              <a:gd name="adj" fmla="val 266667"/>
            </a:avLst>
          </a:prstGeom>
          <a:solidFill>
            <a:srgbClr val="A9B8C7"/>
          </a:solidFill>
          <a:ln w="12700">
            <a:solidFill>
              <a:srgbClr val="A9B8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2898648" y="45445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" y="4937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Cliente, canal y periodo (Country, Sales_Channel, Order_Quarter, Order_Year, Day_of_Week, Payment_Method…) no modifican el error del modelo.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18745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CAPACIDAD PREDICTIVA POR DIMENSIÓN</a:t>
            </a:r>
            <a:endParaRPr lang="en-US" sz="1050" dirty="0"/>
          </a:p>
        </p:txBody>
      </p:sp>
      <p:sp>
        <p:nvSpPr>
          <p:cNvPr id="30" name="bloques"/>
          <p:cNvSpPr/>
          <p:nvPr/>
        </p:nvSpPr>
        <p:spPr>
          <a:xfrm>
            <a:off x="7315200" y="2240280"/>
            <a:ext cx="4069080" cy="2651760"/>
          </a:xfrm>
          <a:prstGeom prst="roundRect">
            <a:avLst>
              <a:gd name="adj" fmla="val 5517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 txBox="1"/>
          <p:nvPr/>
        </p:nvSpPr>
        <p:spPr>
          <a:xfrm>
            <a:off x="7543800" y="23591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Aumento del MAE al retirar la dimensión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26974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Producto</a:t>
            </a:r>
            <a:endParaRPr lang="en-US" sz="1200" dirty="0"/>
          </a:p>
        </p:txBody>
      </p:sp>
      <p:sp>
        <p:nvSpPr>
          <p:cNvPr id="33" name="dim Producto"/>
          <p:cNvSpPr/>
          <p:nvPr/>
        </p:nvSpPr>
        <p:spPr>
          <a:xfrm>
            <a:off x="8458200" y="2761488"/>
            <a:ext cx="1264246" cy="201168"/>
          </a:xfrm>
          <a:prstGeom prst="roundRect">
            <a:avLst>
              <a:gd name="adj" fmla="val 31818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9813886" y="26974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+3,34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469880" y="2697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sola 0,28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543800" y="31181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</a:t>
            </a:r>
            <a:endParaRPr lang="en-US" sz="1200" dirty="0"/>
          </a:p>
        </p:txBody>
      </p:sp>
      <p:sp>
        <p:nvSpPr>
          <p:cNvPr id="37" name="dim Venta"/>
          <p:cNvSpPr/>
          <p:nvPr/>
        </p:nvSpPr>
        <p:spPr>
          <a:xfrm>
            <a:off x="8458200" y="3182112"/>
            <a:ext cx="996759" cy="201168"/>
          </a:xfrm>
          <a:prstGeom prst="roundRect">
            <a:avLst>
              <a:gd name="adj" fmla="val 31818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9546399" y="31181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+2,63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469880" y="31181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sola 0,27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543800" y="35387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200" dirty="0"/>
          </a:p>
        </p:txBody>
      </p:sp>
      <p:sp>
        <p:nvSpPr>
          <p:cNvPr id="41" name="dim Cliente"/>
          <p:cNvSpPr/>
          <p:nvPr/>
        </p:nvSpPr>
        <p:spPr>
          <a:xfrm>
            <a:off x="8458200" y="3602736"/>
            <a:ext cx="27432" cy="201168"/>
          </a:xfrm>
          <a:prstGeom prst="roundRect">
            <a:avLst>
              <a:gd name="adj" fmla="val 233333"/>
            </a:avLst>
          </a:prstGeom>
          <a:solidFill>
            <a:srgbClr val="A9B8C7"/>
          </a:solidFill>
          <a:ln w="12700">
            <a:solidFill>
              <a:srgbClr val="A9B8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 txBox="1"/>
          <p:nvPr/>
        </p:nvSpPr>
        <p:spPr>
          <a:xfrm>
            <a:off x="8577072" y="35387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469880" y="353872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sola ≈ 0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543800" y="39593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Periodo</a:t>
            </a:r>
            <a:endParaRPr lang="en-US" sz="1200" dirty="0"/>
          </a:p>
        </p:txBody>
      </p:sp>
      <p:sp>
        <p:nvSpPr>
          <p:cNvPr id="45" name="dim Periodo"/>
          <p:cNvSpPr/>
          <p:nvPr/>
        </p:nvSpPr>
        <p:spPr>
          <a:xfrm>
            <a:off x="8458200" y="4023360"/>
            <a:ext cx="27432" cy="201168"/>
          </a:xfrm>
          <a:prstGeom prst="roundRect">
            <a:avLst>
              <a:gd name="adj" fmla="val 233333"/>
            </a:avLst>
          </a:prstGeom>
          <a:solidFill>
            <a:srgbClr val="A9B8C7"/>
          </a:solidFill>
          <a:ln w="12700">
            <a:solidFill>
              <a:srgbClr val="A9B8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 txBox="1"/>
          <p:nvPr/>
        </p:nvSpPr>
        <p:spPr>
          <a:xfrm>
            <a:off x="8577072" y="39593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469880" y="39593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sola 0,04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543800" y="43799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</a:t>
            </a:r>
            <a:endParaRPr lang="en-US" sz="1200" dirty="0"/>
          </a:p>
        </p:txBody>
      </p:sp>
      <p:sp>
        <p:nvSpPr>
          <p:cNvPr id="49" name="dim Canal"/>
          <p:cNvSpPr/>
          <p:nvPr/>
        </p:nvSpPr>
        <p:spPr>
          <a:xfrm>
            <a:off x="8458200" y="4443984"/>
            <a:ext cx="27432" cy="201168"/>
          </a:xfrm>
          <a:prstGeom prst="roundRect">
            <a:avLst>
              <a:gd name="adj" fmla="val 233333"/>
            </a:avLst>
          </a:prstGeom>
          <a:solidFill>
            <a:srgbClr val="A9B8C7"/>
          </a:solidFill>
          <a:ln w="12700">
            <a:solidFill>
              <a:srgbClr val="A9B8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 txBox="1"/>
          <p:nvPr/>
        </p:nvSpPr>
        <p:spPr>
          <a:xfrm>
            <a:off x="8577072" y="43799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469880" y="43799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sola ≈ 0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7315200" y="49377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 = descuento, cantidad, precio, inventario · Producto = nombre, categoría · Cliente = segmento, edad, género, país · Canal = canal, pago, envío, promoción · Periodo = trimestre, año, día</a:t>
            </a:r>
            <a:endParaRPr lang="en-US" sz="850" dirty="0"/>
          </a:p>
        </p:txBody>
      </p:sp>
      <p:sp>
        <p:nvSpPr>
          <p:cNvPr id="53" name="banner"/>
          <p:cNvSpPr/>
          <p:nvPr/>
        </p:nvSpPr>
        <p:spPr>
          <a:xfrm>
            <a:off x="813816" y="5486400"/>
            <a:ext cx="10570464" cy="640080"/>
          </a:xfrm>
          <a:prstGeom prst="roundRect">
            <a:avLst>
              <a:gd name="adj" fmla="val 17143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 txBox="1"/>
          <p:nvPr/>
        </p:nvSpPr>
        <p:spPr>
          <a:xfrm>
            <a:off x="1005840" y="54864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B2B"/>
                </a:solidFill>
              </a:rPr>
              <a:t>◉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289304" y="5559552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Producto y condiciones económicas de la venta concentran la mayor parte de la señal predictiva del margen. </a:t>
            </a:r>
            <a:r>
              <a:rPr lang="en-US" sz="1250" dirty="0">
                <a:solidFill>
                  <a:srgbClr val="0B1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Cliente, canal y periodo aportan menos información adicional cuando ya conocemos producto y condiciones comerciales.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APLICACIÓN PARA EL NEGOCIO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mismo descuento no pesa igual en todos los productos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2362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18288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8A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SIMULACIÓN PREDICTIVA · DESCUENTO Y MARGEN PREDICHO POR PRODUCTO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813816" y="2103120"/>
          <a:ext cx="69494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13816" y="5303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simulación es predictiva, no causal: no afirma que aplicar X% de descuento producirá exactamente Y% de margen. El modelo lineal no incluye interacción producto × descuento (pendiente común; lo que difiere es el margen base).</a:t>
            </a:r>
            <a:endParaRPr lang="en-US" sz="900" dirty="0"/>
          </a:p>
        </p:txBody>
      </p:sp>
      <p:sp>
        <p:nvSpPr>
          <p:cNvPr id="9" name="alerta"/>
          <p:cNvSpPr/>
          <p:nvPr/>
        </p:nvSpPr>
        <p:spPr>
          <a:xfrm>
            <a:off x="8092440" y="1828800"/>
            <a:ext cx="3291840" cy="1325880"/>
          </a:xfrm>
          <a:prstGeom prst="roundRect">
            <a:avLst>
              <a:gd name="adj" fmla="val 11034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8321040" y="19568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A5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ALERTA DE BAJA RENTABILIDAD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22402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Profit_Margin predicho &lt; 15% 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la transacción se marca para revisión antes de aprobar el descuento</a:t>
            </a:r>
            <a:endParaRPr lang="en-US" sz="1500" dirty="0"/>
          </a:p>
        </p:txBody>
      </p:sp>
      <p:sp>
        <p:nvSpPr>
          <p:cNvPr id="12" name="KPI PRECISION"/>
          <p:cNvSpPr/>
          <p:nvPr/>
        </p:nvSpPr>
        <p:spPr>
          <a:xfrm>
            <a:off x="8092440" y="3291840"/>
            <a:ext cx="103327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 txBox="1"/>
          <p:nvPr/>
        </p:nvSpPr>
        <p:spPr>
          <a:xfrm>
            <a:off x="8220456" y="34747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220456" y="37307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0,89</a:t>
            </a:r>
            <a:endParaRPr lang="en-US" sz="2000" dirty="0"/>
          </a:p>
        </p:txBody>
      </p:sp>
      <p:sp>
        <p:nvSpPr>
          <p:cNvPr id="15" name="KPI RECALL"/>
          <p:cNvSpPr/>
          <p:nvPr/>
        </p:nvSpPr>
        <p:spPr>
          <a:xfrm>
            <a:off x="9221724" y="3291840"/>
            <a:ext cx="103327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 txBox="1"/>
          <p:nvPr/>
        </p:nvSpPr>
        <p:spPr>
          <a:xfrm>
            <a:off x="9349740" y="34747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9349740" y="37307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0,89</a:t>
            </a:r>
            <a:endParaRPr lang="en-US" sz="2000" dirty="0"/>
          </a:p>
        </p:txBody>
      </p:sp>
      <p:sp>
        <p:nvSpPr>
          <p:cNvPr id="18" name="KPI F1"/>
          <p:cNvSpPr/>
          <p:nvPr/>
        </p:nvSpPr>
        <p:spPr>
          <a:xfrm>
            <a:off x="10351008" y="3291840"/>
            <a:ext cx="103327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 txBox="1"/>
          <p:nvPr/>
        </p:nvSpPr>
        <p:spPr>
          <a:xfrm>
            <a:off x="10479024" y="34747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4" y="37307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0,89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Desempeño de la alerta en el test reservado: precision 0,885 · recall 0,895 · F1 0,890.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4709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Lectura: </a:t>
            </a:r>
            <a:r>
              <a:rPr lang="en-US" sz="1050" dirty="0">
                <a:solidFill>
                  <a:srgbClr val="5B6B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Pens conserva el margen de referencia hasta un 30% de descuento; Copy Paper Box solo lo conserva sin descuento. Cada producto tolera un nivel distinto de descuento.</a:t>
            </a:r>
            <a:endParaRPr lang="en-US" sz="1050" dirty="0"/>
          </a:p>
        </p:txBody>
      </p:sp>
      <p:sp>
        <p:nvSpPr>
          <p:cNvPr id="23" name="banner"/>
          <p:cNvSpPr/>
          <p:nvPr/>
        </p:nvSpPr>
        <p:spPr>
          <a:xfrm>
            <a:off x="813816" y="5760720"/>
            <a:ext cx="10570464" cy="420624"/>
          </a:xfrm>
          <a:prstGeom prst="roundRect">
            <a:avLst>
              <a:gd name="adj" fmla="val 2608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 txBox="1"/>
          <p:nvPr/>
        </p:nvSpPr>
        <p:spPr>
          <a:xfrm>
            <a:off x="1005840" y="576072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◉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289304" y="583387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modelo puede utilizarse como apoyo para identificar operaciones que podrían quedar por debajo del margen objetivo</a:t>
            </a: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antes de comprometer la rentabilidad.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9C3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CONCLUSIONES Y RECOMENDACIONES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¿Qué nos dice finalmente el modelo?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2362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conclusión 1"/>
          <p:cNvSpPr/>
          <p:nvPr/>
        </p:nvSpPr>
        <p:spPr>
          <a:xfrm>
            <a:off x="813816" y="1874520"/>
            <a:ext cx="2523744" cy="2331720"/>
          </a:xfrm>
          <a:prstGeom prst="roundRect">
            <a:avLst>
              <a:gd name="adj" fmla="val 6275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1051560" y="20299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C37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50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770632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productos presentan estructuras de margen diferentes: Product_Name es la variable con mayor capacidad predictiva (+6,44 de MAE al permutarla) y el bloque Producto el que más cuesta retirar (+3,34).</a:t>
            </a:r>
            <a:endParaRPr lang="en-US" sz="1050" dirty="0"/>
          </a:p>
        </p:txBody>
      </p:sp>
      <p:sp>
        <p:nvSpPr>
          <p:cNvPr id="10" name="conclusión 2"/>
          <p:cNvSpPr/>
          <p:nvPr/>
        </p:nvSpPr>
        <p:spPr>
          <a:xfrm>
            <a:off x="3493008" y="1874520"/>
            <a:ext cx="2523744" cy="2331720"/>
          </a:xfrm>
          <a:prstGeom prst="roundRect">
            <a:avLst>
              <a:gd name="adj" fmla="val 6275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3730752" y="20299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C37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450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Condiciones de venta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2770632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Descuento (+4,88) y precio unitario (+1,59) están entre las variables con mayor relación predictiva con Profit_Margin. Retirar el bloque Venta cuesta +2,63 de MAE.</a:t>
            </a:r>
            <a:endParaRPr lang="en-US" sz="1050" dirty="0"/>
          </a:p>
        </p:txBody>
      </p:sp>
      <p:sp>
        <p:nvSpPr>
          <p:cNvPr id="14" name="conclusión 3"/>
          <p:cNvSpPr/>
          <p:nvPr/>
        </p:nvSpPr>
        <p:spPr>
          <a:xfrm>
            <a:off x="6172200" y="1874520"/>
            <a:ext cx="2523744" cy="2331720"/>
          </a:xfrm>
          <a:prstGeom prst="roundRect">
            <a:avLst>
              <a:gd name="adj" fmla="val 6275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 txBox="1"/>
          <p:nvPr/>
        </p:nvSpPr>
        <p:spPr>
          <a:xfrm>
            <a:off x="6409944" y="20299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B8C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450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Cliente, canal y periodo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770632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Muestran diferencias descriptivas en ventas, pero después de incorporar producto y condiciones comerciales no aportan capacidad predictiva adicional (aumento del MAE ≈ 0).</a:t>
            </a:r>
            <a:endParaRPr lang="en-US" sz="1050" dirty="0"/>
          </a:p>
        </p:txBody>
      </p:sp>
      <p:sp>
        <p:nvSpPr>
          <p:cNvPr id="18" name="conclusión 4"/>
          <p:cNvSpPr/>
          <p:nvPr/>
        </p:nvSpPr>
        <p:spPr>
          <a:xfrm>
            <a:off x="8851392" y="1874520"/>
            <a:ext cx="2523744" cy="2331720"/>
          </a:xfrm>
          <a:prstGeom prst="roundRect">
            <a:avLst>
              <a:gd name="adj" fmla="val 6275"/>
            </a:avLst>
          </a:prstGeom>
          <a:solidFill>
            <a:srgbClr val="12263A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9089136" y="20299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89136" y="2450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089136" y="2770632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8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Q4 presenta menor margen descriptivamente (16,09% vs. 21,88%), pero gran parte de esa diferencia se explica por producto y condiciones comerciales: su efecto ajustado es +0,01 pp (IC 95%: −0,08 a +0,09).</a:t>
            </a:r>
            <a:endParaRPr lang="en-US" sz="1050" dirty="0"/>
          </a:p>
        </p:txBody>
      </p:sp>
      <p:sp>
        <p:nvSpPr>
          <p:cNvPr id="22" name="recomendación"/>
          <p:cNvSpPr/>
          <p:nvPr/>
        </p:nvSpPr>
        <p:spPr>
          <a:xfrm>
            <a:off x="813816" y="4389120"/>
            <a:ext cx="10570464" cy="1143000"/>
          </a:xfrm>
          <a:prstGeom prst="roundRect">
            <a:avLst>
              <a:gd name="adj" fmla="val 9600"/>
            </a:avLst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1051560" y="44805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B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OPORTUNIDAD NO ES SOLO VENDER MÁS. ES VENDER CON MEJORES CONDICIONES.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91947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Gestionar descuentos considerando la estructura de margen de cada producto puede ser más útil que aplicar políticas generales únicamente por temporada, canal o perfil de cliente.</a:t>
            </a:r>
            <a:endParaRPr lang="en-US" sz="1200" dirty="0"/>
          </a:p>
        </p:txBody>
      </p:sp>
      <p:sp>
        <p:nvSpPr>
          <p:cNvPr id="25" name="nota metodológica"/>
          <p:cNvSpPr/>
          <p:nvPr/>
        </p:nvSpPr>
        <p:spPr>
          <a:xfrm>
            <a:off x="813816" y="5669280"/>
            <a:ext cx="10570464" cy="45720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nota marca"/>
          <p:cNvSpPr/>
          <p:nvPr/>
        </p:nvSpPr>
        <p:spPr>
          <a:xfrm>
            <a:off x="813816" y="5669280"/>
            <a:ext cx="54864" cy="4572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1097280" y="56692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Nota metodológica: </a:t>
            </a:r>
            <a:r>
              <a:rPr lang="en-US" sz="105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asociación y capacidad predictiva no implican causalidad. Resultados de un modelo lineal evaluado con validación cruzada y un test reservado; la simulación de descuentos es predictiva, no causal.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A Ventas Rentabilidad">
  <a:themeElements>
    <a:clrScheme name="EDA Ventas Rentabilidad">
      <a:dk1>
        <a:srgbClr val="0B1B2B"/>
      </a:dk1>
      <a:lt1>
        <a:srgbClr val="FFFFFF"/>
      </a:lt1>
      <a:dk2>
        <a:srgbClr val="14213D"/>
      </a:dk2>
      <a:lt2>
        <a:srgbClr val="F4F6F8"/>
      </a:lt2>
      <a:accent1>
        <a:srgbClr val="19C37D"/>
      </a:accent1>
      <a:accent2>
        <a:srgbClr val="F5A524"/>
      </a:accent2>
      <a:accent3>
        <a:srgbClr val="A9B8C7"/>
      </a:accent3>
      <a:accent4>
        <a:srgbClr val="12263A"/>
      </a:accent4>
      <a:accent5>
        <a:srgbClr val="0E8A5A"/>
      </a:accent5>
      <a:accent6>
        <a:srgbClr val="5B6B7C"/>
      </a:accent6>
      <a:hlink>
        <a:srgbClr val="19C37D"/>
      </a:hlink>
      <a:folHlink>
        <a:srgbClr val="5B6B7C"/>
      </a:folHlink>
    </a:clrScheme>
    <a:fontScheme name="EDA Ventas Rentabilidad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1123</Words>
  <Application>Microsoft Office PowerPoint</Application>
  <PresentationFormat>Panorámica</PresentationFormat>
  <Paragraphs>171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DM Sans</vt:lpstr>
      <vt:lpstr>Space Grotesk</vt:lpstr>
      <vt:lpstr>EDA Ventas Rentabilidad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Qué está explicando realmente la rentabilidad - Ventas 2022-2025</dc:title>
  <dc:subject>PptxGenJS Presentation</dc:subject>
  <dc:creator>Hasber Malpica</dc:creator>
  <cp:lastModifiedBy>Carlos Andres Restrepo Trujillo</cp:lastModifiedBy>
  <cp:revision>2</cp:revision>
  <dcterms:created xsi:type="dcterms:W3CDTF">2026-10-14T00:42:38Z</dcterms:created>
  <dcterms:modified xsi:type="dcterms:W3CDTF">2026-10-14T01:20:38Z</dcterms:modified>
</cp:coreProperties>
</file>