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A2433"/>
                </a:solidFill>
                <a:latin typeface="Arial"/>
              </a:rPr>
              <a:t>Ventas y utilidad por categoría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($M)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433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Furniture</c:v>
                </c:pt>
                <c:pt idx="2">
                  <c:v>Office Supplies</c:v>
                </c:pt>
                <c:pt idx="3">
                  <c:v>Appliances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4.92</c:v>
                </c:pt>
                <c:pt idx="1">
                  <c:v>2</c:v>
                </c:pt>
                <c:pt idx="2">
                  <c:v>0.74</c:v>
                </c:pt>
                <c:pt idx="3">
                  <c:v>0.58399999999999996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54-4D1A-9693-E0BB249208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1FBF9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433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Furniture</c:v>
                </c:pt>
                <c:pt idx="2">
                  <c:v>Office Supplies</c:v>
                </c:pt>
                <c:pt idx="3">
                  <c:v>Appliances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0.95199999999999996</c:v>
                </c:pt>
                <c:pt idx="1">
                  <c:v>0.42</c:v>
                </c:pt>
                <c:pt idx="2">
                  <c:v>0.14000000000000001</c:v>
                </c:pt>
                <c:pt idx="3">
                  <c:v>0.129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54-4D1A-9693-E0BB249208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Categoría de producto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9EE"/>
              </a:solidFill>
              <a:prstDash val="solid"/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Millones de USD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s-CO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A2433"/>
                </a:solidFill>
                <a:latin typeface="Arial"/>
              </a:rPr>
              <a:t>Margen de utilidad por categoría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(%)</c:v>
                </c:pt>
              </c:strCache>
            </c:strRef>
          </c:tx>
          <c:spPr>
            <a:solidFill>
              <a:srgbClr val="1FBF9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Appliances</c:v>
                </c:pt>
                <c:pt idx="1">
                  <c:v>Furniture</c:v>
                </c:pt>
                <c:pt idx="2">
                  <c:v>Office Supplies</c:v>
                </c:pt>
                <c:pt idx="3">
                  <c:v>Electronics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21.1</c:v>
                </c:pt>
                <c:pt idx="2">
                  <c:v>19.5</c:v>
                </c:pt>
                <c:pt idx="3">
                  <c:v>19.3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55-4724-9BE4-BCB93AEE88D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Categoría de producto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7E9EE"/>
              </a:solidFill>
              <a:prstDash val="solid"/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Margen de utilidad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A2433"/>
                </a:solidFill>
                <a:latin typeface="Arial"/>
              </a:defRPr>
            </a:pPr>
            <a:r>
              <a:rPr lang="es-MX" sz="1150" b="0" i="0" u="none" strike="noStrike">
                <a:solidFill>
                  <a:srgbClr val="1A2433"/>
                </a:solidFill>
                <a:latin typeface="Arial"/>
              </a:rPr>
              <a:t>Evolución trimestral de ventas y utilidad ($k)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($k)</c:v>
                </c:pt>
              </c:strCache>
            </c:strRef>
          </c:tx>
          <c:spPr>
            <a:ln w="25400" cap="flat">
              <a:solidFill>
                <a:srgbClr val="0B1F3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0B1F3A"/>
              </a:solidFill>
              <a:ln w="9525" cap="flat">
                <a:solidFill>
                  <a:srgbClr val="0B1F3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1A2433"/>
                    </a:solidFill>
                    <a:latin typeface="Arial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22-Q1</c:v>
                </c:pt>
                <c:pt idx="1">
                  <c:v>22-Q2</c:v>
                </c:pt>
                <c:pt idx="2">
                  <c:v>22-Q3</c:v>
                </c:pt>
                <c:pt idx="3">
                  <c:v>22-Q4</c:v>
                </c:pt>
                <c:pt idx="4">
                  <c:v>23-Q1</c:v>
                </c:pt>
                <c:pt idx="5">
                  <c:v>23-Q2</c:v>
                </c:pt>
                <c:pt idx="6">
                  <c:v>23-Q3</c:v>
                </c:pt>
                <c:pt idx="7">
                  <c:v>23-Q4</c:v>
                </c:pt>
                <c:pt idx="8">
                  <c:v>24-Q1</c:v>
                </c:pt>
                <c:pt idx="9">
                  <c:v>24-Q2</c:v>
                </c:pt>
                <c:pt idx="10">
                  <c:v>24-Q3</c:v>
                </c:pt>
                <c:pt idx="11">
                  <c:v>24-Q4</c:v>
                </c:pt>
                <c:pt idx="12">
                  <c:v>25-Q1</c:v>
                </c:pt>
                <c:pt idx="13">
                  <c:v>25-Q2</c:v>
                </c:pt>
                <c:pt idx="14">
                  <c:v>25-Q3</c:v>
                </c:pt>
                <c:pt idx="15">
                  <c:v>25-Q4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365</c:v>
                </c:pt>
                <c:pt idx="1">
                  <c:v>505</c:v>
                </c:pt>
                <c:pt idx="2">
                  <c:v>470</c:v>
                </c:pt>
                <c:pt idx="3">
                  <c:v>670</c:v>
                </c:pt>
                <c:pt idx="4">
                  <c:v>430</c:v>
                </c:pt>
                <c:pt idx="5">
                  <c:v>505</c:v>
                </c:pt>
                <c:pt idx="6">
                  <c:v>440</c:v>
                </c:pt>
                <c:pt idx="7">
                  <c:v>650</c:v>
                </c:pt>
                <c:pt idx="8">
                  <c:v>410</c:v>
                </c:pt>
                <c:pt idx="9">
                  <c:v>430</c:v>
                </c:pt>
                <c:pt idx="10">
                  <c:v>460</c:v>
                </c:pt>
                <c:pt idx="11">
                  <c:v>615</c:v>
                </c:pt>
                <c:pt idx="12">
                  <c:v>520</c:v>
                </c:pt>
                <c:pt idx="13">
                  <c:v>525</c:v>
                </c:pt>
                <c:pt idx="14">
                  <c:v>510</c:v>
                </c:pt>
                <c:pt idx="15">
                  <c:v>756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B1-4D6E-8C33-392F8F721F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ln w="25400" cap="flat">
              <a:solidFill>
                <a:srgbClr val="1FBF9E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BF9E"/>
              </a:solidFill>
              <a:ln w="9525" cap="flat">
                <a:solidFill>
                  <a:srgbClr val="1FBF9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1A2433"/>
                    </a:solidFill>
                    <a:latin typeface="Arial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22-Q1</c:v>
                </c:pt>
                <c:pt idx="1">
                  <c:v>22-Q2</c:v>
                </c:pt>
                <c:pt idx="2">
                  <c:v>22-Q3</c:v>
                </c:pt>
                <c:pt idx="3">
                  <c:v>22-Q4</c:v>
                </c:pt>
                <c:pt idx="4">
                  <c:v>23-Q1</c:v>
                </c:pt>
                <c:pt idx="5">
                  <c:v>23-Q2</c:v>
                </c:pt>
                <c:pt idx="6">
                  <c:v>23-Q3</c:v>
                </c:pt>
                <c:pt idx="7">
                  <c:v>23-Q4</c:v>
                </c:pt>
                <c:pt idx="8">
                  <c:v>24-Q1</c:v>
                </c:pt>
                <c:pt idx="9">
                  <c:v>24-Q2</c:v>
                </c:pt>
                <c:pt idx="10">
                  <c:v>24-Q3</c:v>
                </c:pt>
                <c:pt idx="11">
                  <c:v>24-Q4</c:v>
                </c:pt>
                <c:pt idx="12">
                  <c:v>25-Q1</c:v>
                </c:pt>
                <c:pt idx="13">
                  <c:v>25-Q2</c:v>
                </c:pt>
                <c:pt idx="14">
                  <c:v>25-Q3</c:v>
                </c:pt>
                <c:pt idx="15">
                  <c:v>25-Q4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</c:v>
                </c:pt>
                <c:pt idx="1">
                  <c:v>107</c:v>
                </c:pt>
                <c:pt idx="2">
                  <c:v>109</c:v>
                </c:pt>
                <c:pt idx="3">
                  <c:v>113</c:v>
                </c:pt>
                <c:pt idx="4">
                  <c:v>91</c:v>
                </c:pt>
                <c:pt idx="5">
                  <c:v>105</c:v>
                </c:pt>
                <c:pt idx="6">
                  <c:v>101</c:v>
                </c:pt>
                <c:pt idx="7">
                  <c:v>109</c:v>
                </c:pt>
                <c:pt idx="8">
                  <c:v>87</c:v>
                </c:pt>
                <c:pt idx="9">
                  <c:v>92</c:v>
                </c:pt>
                <c:pt idx="10">
                  <c:v>108</c:v>
                </c:pt>
                <c:pt idx="11">
                  <c:v>99</c:v>
                </c:pt>
                <c:pt idx="12">
                  <c:v>112</c:v>
                </c:pt>
                <c:pt idx="13">
                  <c:v>111</c:v>
                </c:pt>
                <c:pt idx="14">
                  <c:v>117</c:v>
                </c:pt>
                <c:pt idx="15">
                  <c:v>118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B1-4D6E-8C33-392F8F721F4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Trimestre (año-Q)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2700000"/>
          <a:lstStyle/>
          <a:p>
            <a:pPr>
              <a:defRPr sz="75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9EE"/>
              </a:solidFill>
              <a:prstDash val="solid"/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Miles de USD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s-CO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A2433"/>
                </a:solidFill>
                <a:latin typeface="Arial"/>
              </a:defRPr>
            </a:pPr>
            <a:r>
              <a:rPr lang="es-CO" sz="1150" b="0" i="0" u="none" strike="noStrike">
                <a:solidFill>
                  <a:srgbClr val="1A2433"/>
                </a:solidFill>
                <a:latin typeface="Arial"/>
              </a:rPr>
              <a:t>Evolución trimestral del margen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(%)</c:v>
                </c:pt>
              </c:strCache>
            </c:strRef>
          </c:tx>
          <c:spPr>
            <a:ln w="25400" cap="flat">
              <a:solidFill>
                <a:srgbClr val="0B1F3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0B1F3A"/>
              </a:solidFill>
              <a:ln w="9525" cap="flat">
                <a:solidFill>
                  <a:srgbClr val="0B1F3A"/>
                </a:solidFill>
                <a:prstDash val="solid"/>
                <a:round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1A2433"/>
                    </a:solidFill>
                    <a:latin typeface="Arial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22-Q1</c:v>
                </c:pt>
                <c:pt idx="1">
                  <c:v>22-Q2</c:v>
                </c:pt>
                <c:pt idx="2">
                  <c:v>22-Q3</c:v>
                </c:pt>
                <c:pt idx="3">
                  <c:v>22-Q4</c:v>
                </c:pt>
                <c:pt idx="4">
                  <c:v>23-Q1</c:v>
                </c:pt>
                <c:pt idx="5">
                  <c:v>23-Q2</c:v>
                </c:pt>
                <c:pt idx="6">
                  <c:v>23-Q3</c:v>
                </c:pt>
                <c:pt idx="7">
                  <c:v>23-Q4</c:v>
                </c:pt>
                <c:pt idx="8">
                  <c:v>24-Q1</c:v>
                </c:pt>
                <c:pt idx="9">
                  <c:v>24-Q2</c:v>
                </c:pt>
                <c:pt idx="10">
                  <c:v>24-Q3</c:v>
                </c:pt>
                <c:pt idx="11">
                  <c:v>24-Q4</c:v>
                </c:pt>
                <c:pt idx="12">
                  <c:v>25-Q1</c:v>
                </c:pt>
                <c:pt idx="13">
                  <c:v>25-Q2</c:v>
                </c:pt>
                <c:pt idx="14">
                  <c:v>25-Q3</c:v>
                </c:pt>
                <c:pt idx="15">
                  <c:v>25-Q4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21.7</c:v>
                </c:pt>
                <c:pt idx="1">
                  <c:v>21.2</c:v>
                </c:pt>
                <c:pt idx="2">
                  <c:v>23.2</c:v>
                </c:pt>
                <c:pt idx="3">
                  <c:v>16.899999999999999</c:v>
                </c:pt>
                <c:pt idx="4">
                  <c:v>21.1</c:v>
                </c:pt>
                <c:pt idx="5">
                  <c:v>20.8</c:v>
                </c:pt>
                <c:pt idx="6">
                  <c:v>22.9</c:v>
                </c:pt>
                <c:pt idx="7">
                  <c:v>16.7</c:v>
                </c:pt>
                <c:pt idx="8">
                  <c:v>21.1</c:v>
                </c:pt>
                <c:pt idx="9">
                  <c:v>21.5</c:v>
                </c:pt>
                <c:pt idx="10">
                  <c:v>23.4</c:v>
                </c:pt>
                <c:pt idx="11">
                  <c:v>16.100000000000001</c:v>
                </c:pt>
                <c:pt idx="12">
                  <c:v>21.5</c:v>
                </c:pt>
                <c:pt idx="13">
                  <c:v>21.1</c:v>
                </c:pt>
                <c:pt idx="14">
                  <c:v>23</c:v>
                </c:pt>
                <c:pt idx="15">
                  <c:v>15.5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1F-4ABC-88F7-CCC5A51EF63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Trimestre (año-Q)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2700000"/>
          <a:lstStyle/>
          <a:p>
            <a:pPr>
              <a:defRPr sz="75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9EE"/>
              </a:solidFill>
              <a:prstDash val="solid"/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Margen de utilidad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Arial"/>
              </a:defRPr>
            </a:pPr>
            <a:r>
              <a:rPr lang="es-CO" sz="1200" b="0" i="0" u="none" strike="noStrike">
                <a:solidFill>
                  <a:srgbClr val="1A2433"/>
                </a:solidFill>
                <a:latin typeface="Arial"/>
              </a:rPr>
              <a:t>Margen vs. descuento promedio por trimestre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(%)</c:v>
                </c:pt>
              </c:strCache>
            </c:strRef>
          </c:tx>
          <c:spPr>
            <a:ln w="31750" cap="flat">
              <a:solidFill>
                <a:srgbClr val="0B1F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1F3A"/>
              </a:solidFill>
              <a:ln w="9525" cap="flat">
                <a:solidFill>
                  <a:srgbClr val="0B1F3A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433"/>
                    </a:solidFill>
                    <a:latin typeface="Arial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21.4</c:v>
                </c:pt>
                <c:pt idx="1">
                  <c:v>21.4</c:v>
                </c:pt>
                <c:pt idx="2">
                  <c:v>23.4</c:v>
                </c:pt>
                <c:pt idx="3">
                  <c:v>16.399999999999999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DB-4EBC-B95B-9C6B77D33F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Descuento promedio (%)</c:v>
                </c:pt>
              </c:strCache>
            </c:strRef>
          </c:tx>
          <c:spPr>
            <a:ln w="31750" cap="flat">
              <a:solidFill>
                <a:srgbClr val="1FBF9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BF9E"/>
              </a:solidFill>
              <a:ln w="9525" cap="flat">
                <a:solidFill>
                  <a:srgbClr val="1FBF9E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433"/>
                    </a:solidFill>
                    <a:latin typeface="Arial"/>
                  </a:defRPr>
                </a:pPr>
                <a:endParaRPr lang="es-C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</c:v>
                </c:pt>
                <c:pt idx="1">
                  <c:v>4.5999999999999996</c:v>
                </c:pt>
                <c:pt idx="2">
                  <c:v>2.8</c:v>
                </c:pt>
                <c:pt idx="3">
                  <c:v>10.6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DB-4EBC-B95B-9C6B77D33F1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Trimestre (agregado 2022–2025)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9EE"/>
              </a:solidFill>
              <a:prstDash val="solid"/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Porcentaje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s-CO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A2433"/>
                </a:solidFill>
                <a:latin typeface="Arial"/>
              </a:rPr>
              <a:t>Ventas y utilidad por canal de venta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($M)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433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Online</c:v>
                </c:pt>
                <c:pt idx="1">
                  <c:v>Retail Store</c:v>
                </c:pt>
                <c:pt idx="2">
                  <c:v>B2B Portal</c:v>
                </c:pt>
                <c:pt idx="3">
                  <c:v>Phone Order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3.11</c:v>
                </c:pt>
                <c:pt idx="1">
                  <c:v>2.4500000000000002</c:v>
                </c:pt>
                <c:pt idx="2">
                  <c:v>2.12</c:v>
                </c:pt>
                <c:pt idx="3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54-4D1A-9693-E0BB249208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1FBF9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433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Online</c:v>
                </c:pt>
                <c:pt idx="1">
                  <c:v>Retail Store</c:v>
                </c:pt>
                <c:pt idx="2">
                  <c:v>B2B Portal</c:v>
                </c:pt>
                <c:pt idx="3">
                  <c:v>Phone Order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0.63</c:v>
                </c:pt>
                <c:pt idx="1">
                  <c:v>0.49</c:v>
                </c:pt>
                <c:pt idx="2">
                  <c:v>0.42</c:v>
                </c:pt>
                <c:pt idx="3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54-4D1A-9693-E0BB249208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Canal de venta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9EE"/>
              </a:solidFill>
              <a:prstDash val="solid"/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Millones de USD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s-CO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A2433"/>
                </a:solidFill>
                <a:latin typeface="Arial"/>
              </a:rPr>
              <a:t>Margen de utilidad por rango de edad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(%)</c:v>
                </c:pt>
              </c:strCache>
            </c:strRef>
          </c:tx>
          <c:spPr>
            <a:solidFill>
              <a:srgbClr val="1FBF9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20.399999999999999</c:v>
                </c:pt>
                <c:pt idx="2">
                  <c:v>19.8</c:v>
                </c:pt>
                <c:pt idx="3">
                  <c:v>19.7</c:v>
                </c:pt>
                <c:pt idx="4">
                  <c:v>20.3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55-4724-9BE4-BCB93AEE88D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Rango de edad del cliente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7E9EE"/>
              </a:solidFill>
              <a:prstDash val="solid"/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 i="0">
                    <a:solidFill>
                      <a:srgbClr val="5B6B7C"/>
                    </a:solidFill>
                    <a:latin typeface="Arial"/>
                  </a:defRPr>
                </a:pPr>
                <a:r>
                  <a:rPr lang="es-CO" sz="900" b="0" i="0">
                    <a:solidFill>
                      <a:srgbClr val="5B6B7C"/>
                    </a:solidFill>
                    <a:latin typeface="Arial"/>
                  </a:rPr>
                  <a:t>Margen de utilidad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3A1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22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FBF9E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332720" y="3291840"/>
            <a:ext cx="2926080" cy="2926080"/>
          </a:xfrm>
          <a:prstGeom prst="ellipse">
            <a:avLst/>
          </a:prstGeom>
          <a:solidFill>
            <a:srgbClr val="1FBF9E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-1188720" y="4389120"/>
            <a:ext cx="3291840" cy="3291840"/>
          </a:xfrm>
          <a:prstGeom prst="ellipse">
            <a:avLst/>
          </a:prstGeom>
          <a:solidFill>
            <a:srgbClr val="1FBF9E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18.000 transacciones   ·   6 países   ·   4 categorías   ·   16 trimestres</a:t>
            </a:r>
            <a:endParaRPr lang="en-US" sz="1100" dirty="0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7FB0EAD4-3361-2A7D-A3DD-D90AA1C82E60}"/>
              </a:ext>
            </a:extLst>
          </p:cNvPr>
          <p:cNvSpPr txBox="1">
            <a:spLocks/>
          </p:cNvSpPr>
          <p:nvPr/>
        </p:nvSpPr>
        <p:spPr>
          <a:xfrm>
            <a:off x="2637452" y="4415167"/>
            <a:ext cx="7197726" cy="1405467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>
                <a:solidFill>
                  <a:schemeClr val="bg1"/>
                </a:solidFill>
              </a:rPr>
              <a:t>POR:</a:t>
            </a:r>
          </a:p>
          <a:p>
            <a:pPr marL="0" indent="0" algn="ctr">
              <a:buNone/>
            </a:pPr>
            <a:r>
              <a:rPr lang="es-CO" dirty="0">
                <a:solidFill>
                  <a:schemeClr val="bg1"/>
                </a:solidFill>
              </a:rPr>
              <a:t>JUAN CARLOS MONTERROSA</a:t>
            </a:r>
          </a:p>
          <a:p>
            <a:pPr marL="0" indent="0" algn="ctr">
              <a:buNone/>
            </a:pPr>
            <a:r>
              <a:rPr lang="es-CO" dirty="0">
                <a:solidFill>
                  <a:schemeClr val="bg1"/>
                </a:solidFill>
              </a:rPr>
              <a:t>HASBER GONZALO MALPICA</a:t>
            </a:r>
          </a:p>
          <a:p>
            <a:pPr marL="0" indent="0" algn="ctr">
              <a:buNone/>
            </a:pPr>
            <a:r>
              <a:rPr lang="es-CO" dirty="0">
                <a:solidFill>
                  <a:schemeClr val="bg1"/>
                </a:solidFill>
              </a:rPr>
              <a:t>CARLOS ANDRÉS RESTREPO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A003463A-F339-AF0D-03B4-EB3AB8F1ABDB}"/>
              </a:ext>
            </a:extLst>
          </p:cNvPr>
          <p:cNvSpPr txBox="1">
            <a:spLocks/>
          </p:cNvSpPr>
          <p:nvPr/>
        </p:nvSpPr>
        <p:spPr>
          <a:xfrm>
            <a:off x="1716834" y="1963738"/>
            <a:ext cx="9443292" cy="242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6000"/>
              </a:lnSpc>
            </a:pPr>
            <a:r>
              <a:rPr lang="en-US" sz="60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ANALISIS EDA – VENTAS 2022-2025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analizamos y qué queremos medir?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394960" cy="640080"/>
          </a:xfrm>
          <a:prstGeom prst="round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18.045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93392"/>
            <a:ext cx="5394960" cy="274320"/>
          </a:xfrm>
          <a:prstGeom prst="round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originales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394960" cy="274320"/>
          </a:xfrm>
          <a:prstGeom prst="round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E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limpieza de datos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5394960" cy="685800"/>
          </a:xfrm>
          <a:prstGeom prst="round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218688"/>
            <a:ext cx="5394960" cy="274320"/>
          </a:xfrm>
          <a:prstGeom prst="round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limpias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5394960" cy="274320"/>
          </a:xfrm>
          <a:prstGeom prst="round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variables</a:t>
            </a:r>
            <a:endParaRPr lang="en-US" sz="1100" b="1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2587752" cy="868680"/>
          </a:xfrm>
          <a:prstGeom prst="roundRect">
            <a:avLst>
              <a:gd name="adj" fmla="val 947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85800" y="416052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453128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· segmento · ubicación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00984" y="4069080"/>
            <a:ext cx="2587752" cy="868680"/>
          </a:xfrm>
          <a:prstGeom prst="roundRect">
            <a:avLst>
              <a:gd name="adj" fmla="val 947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438144" y="416052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38144" y="4453128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· producto · cantidad · precio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5102352"/>
            <a:ext cx="2587752" cy="868680"/>
          </a:xfrm>
          <a:prstGeom prst="roundRect">
            <a:avLst>
              <a:gd name="adj" fmla="val 947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5800" y="5193792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4864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· fecha · descuento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00984" y="5102352"/>
            <a:ext cx="2587752" cy="868680"/>
          </a:xfrm>
          <a:prstGeom prst="roundRect">
            <a:avLst>
              <a:gd name="adj" fmla="val 947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438144" y="5193792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38144" y="54864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· costos · profit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141732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583680" y="16276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PRINCIPAL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Profit_Margin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83680" y="24505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Profit / Sales_Amount × 100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eficiente es cada venta en generar utilidad.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5204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4E9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446520" y="36758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Sales_Amount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400507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vendemos más?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52560" y="35204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4E9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9235440" y="36758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35440" y="400507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ganamos más dinero?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51663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2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492240" y="5230368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margen mide eficiencia, pero necesitamos leerlo junto con ventas y utilidad para entender realmente el negocio.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Ventas y Rentabilidad 2022–2025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que más vende no es la que tiene mayor margen</a:t>
            </a:r>
            <a:endParaRPr lang="en-US" sz="25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02920" y="1280160"/>
          <a:ext cx="60350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675120" y="1280160"/>
          <a:ext cx="50292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502920" y="470916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2"/>
          <p:cNvSpPr/>
          <p:nvPr/>
        </p:nvSpPr>
        <p:spPr>
          <a:xfrm>
            <a:off x="685800" y="4828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85800" y="5102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$4,92 M ventas  ·  $952 mil profit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85800" y="5394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85800" y="59436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383280" y="470916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3566160" y="4828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566160" y="5102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$584 mil ventas  ·  $129 mil profit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566160" y="5394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22,0%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566160" y="59436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6364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2"/>
          <p:cNvSpPr/>
          <p:nvPr/>
        </p:nvSpPr>
        <p:spPr>
          <a:xfrm>
            <a:off x="6492240" y="484632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vende alrededor de 8 veces más que Appliances, aunque su margen es menor.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2240" y="57150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Volumen, utilidad y eficiencia responden preguntas diferentes.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Ventas y Rentabilidad 2022–2025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rompe el comportamiento del resto del año</a:t>
            </a:r>
            <a:endParaRPr lang="en-US" sz="27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43000"/>
          <a:ext cx="68580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57200" y="4023360"/>
          <a:ext cx="68580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7635240" y="1143000"/>
            <a:ext cx="4069080" cy="2606040"/>
          </a:xfrm>
          <a:prstGeom prst="roundRect">
            <a:avLst>
              <a:gd name="adj" fmla="val 315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2"/>
          <p:cNvSpPr/>
          <p:nvPr/>
        </p:nvSpPr>
        <p:spPr>
          <a:xfrm>
            <a:off x="7863840" y="12984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Q4, DURANTE LOS CUATRO AÑOS: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863840" y="16002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Uno de los periodos con mayores ventas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863840" y="1920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trimestre con menor margen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863840" y="239572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EN Q4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863840" y="26060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≈15,6% – 16,6%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863840" y="303580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≈21% – 23% en los demás trimestres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635240" y="3931920"/>
            <a:ext cx="4069080" cy="123444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7863840" y="40416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2025-Q4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863840" y="43159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Ventas: $756 mil   ·   Profit: $118 mil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863840" y="4572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Margen: 15,55%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7635240" y="534924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F2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7863840" y="534924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se repite durante cuatro años, por lo que no parece un evento aislado.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Ventas y Rentabilidad 2022–2025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descuentos, más ventas… pero mucha menos eficiencia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6309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040880" y="1188720"/>
            <a:ext cx="4663440" cy="1417320"/>
          </a:xfrm>
          <a:prstGeom prst="roundRect">
            <a:avLst>
              <a:gd name="adj" fmla="val 580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7269480" y="12984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– Q3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269480" y="16002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≈4%     Margen ≈22%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040880" y="2743200"/>
            <a:ext cx="4663440" cy="1417320"/>
          </a:xfrm>
          <a:prstGeom prst="roundRect">
            <a:avLst>
              <a:gd name="adj" fmla="val 580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7269480" y="28529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69480" y="31546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10,9%     Margen 16,1%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040880" y="4297680"/>
            <a:ext cx="14325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4E9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7132320" y="4389120"/>
            <a:ext cx="124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+46%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132320" y="4864608"/>
            <a:ext cx="124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Q4 vs. trim. promedio Q1–Q3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656320" y="4297680"/>
            <a:ext cx="14325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4E9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8747760" y="4389120"/>
            <a:ext cx="124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747760" y="4864608"/>
            <a:ext cx="124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vs. el mismo promedio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0271760" y="4297680"/>
            <a:ext cx="14325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4E9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10363200" y="4389120"/>
            <a:ext cx="124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82,9%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0363200" y="4864608"/>
            <a:ext cx="124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Q4 con descuento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040880" y="5623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2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7223760" y="56235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volumen crece mucho más rápido que la utilidad.”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4892040"/>
            <a:ext cx="6309360" cy="123444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685800" y="50109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 productos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85800" y="546811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presentan simultáneamente mayor descuento y menor margen en Q4.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2636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metodológica: asociación consistente no implica causalidad.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Ventas y Rentabilidad 2022–2025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Canal, edad, segmento y país mueven el volumen, no el margen</a:t>
            </a:r>
            <a:endParaRPr lang="en-US" sz="25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02920" y="1280160"/>
          <a:ext cx="60350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675120" y="1280160"/>
          <a:ext cx="50292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1"/>
          <p:cNvSpPr/>
          <p:nvPr/>
        </p:nvSpPr>
        <p:spPr>
          <a:xfrm>
            <a:off x="502920" y="470916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2"/>
          <p:cNvSpPr/>
          <p:nvPr/>
        </p:nvSpPr>
        <p:spPr>
          <a:xfrm>
            <a:off x="685800" y="4828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· CONSUMER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85800" y="5102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$3,67 M ventas  ·  $738 mil profit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85800" y="5394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18,7% – 20,8%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85800" y="59436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margen entre grupos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383280" y="470916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3566160" y="4828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· ESTADOS UNIDOS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566160" y="5102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 M ventas  ·  $700 mil profit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566160" y="5394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19,6% – 20,3%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566160" y="59436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margen entre grupos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6364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2"/>
          <p:cNvSpPr/>
          <p:nvPr/>
        </p:nvSpPr>
        <p:spPr>
          <a:xfrm>
            <a:off x="6492240" y="484632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vende casi 6 veces más que Phone Order y el grupo 36–45 concentra el 36% de las ventas, pero en los cuatro cortes el margen se mueve apenas 1–2 puntos alrededor del 20%.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2240" y="57150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variables explican dónde está el negocio, no dónde es más eficiente. La eficiencia la explica el tiempo y el descuento.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Ventas y Rentabilidad 2022–2025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aprendimos del negocio?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≠ rentabilidad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categoría puede tener un margen alto y aportar mucho menos dinero al negocio.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0" y="1417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389120" y="20574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es el hallazgo temporal más importante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89120" y="27889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periodo de mayor volumen y menor eficiencia porcentual.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0" y="1417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138160" y="20574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descuentos son la señal más consistente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38160" y="27889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concentra descuentos cercanos al 11% y márgenes alrededor del 16%. Aparece en 4 años, 4 categorías y 28 productos.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424160" cy="960120"/>
          </a:xfrm>
          <a:prstGeom prst="roundRect">
            <a:avLst>
              <a:gd name="adj" fmla="val 8571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68680" y="4544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DEL ANÁLISIS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8280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EDA es descriptivo y observacional. Identificamos asociación, no demostramos causalidad.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5715000"/>
            <a:ext cx="457200" cy="0"/>
          </a:xfrm>
          <a:prstGeom prst="line">
            <a:avLst/>
          </a:prstGeom>
          <a:noFill/>
          <a:ln w="31750">
            <a:solidFill>
              <a:srgbClr val="1FBF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40080" y="58704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conservar el crecimiento de ventas de Q4 sin deteriorar tanto el margen?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Ventas y Rentabilidad 2022–2025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por categoría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2926080"/>
          </a:xfrm>
          <a:prstGeom prst="roundRect">
            <a:avLst>
              <a:gd name="adj" fmla="val 2813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– Q3 (promedio)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promedio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22%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5212080" cy="2926080"/>
          </a:xfrm>
          <a:prstGeom prst="roundRect">
            <a:avLst>
              <a:gd name="adj" fmla="val 281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30936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514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promedio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27432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3429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3657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16,09%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0698480" cy="1051560"/>
          </a:xfrm>
          <a:prstGeom prst="roundRect">
            <a:avLst>
              <a:gd name="adj" fmla="val 782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  <a:effectLst>
            <a:outerShdw blurRad="1016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22960" y="49743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 productos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5468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presentan simultáneamente mayor descuento y menor margen en Q4.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Ventas y Rentabilidad 2022–2025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796</Words>
  <Application>Microsoft Office PowerPoint</Application>
  <PresentationFormat>Panorámica</PresentationFormat>
  <Paragraphs>147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Space Grotesk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Carlos Andres Restrepo Trujillo</cp:lastModifiedBy>
  <cp:revision>5</cp:revision>
  <dcterms:created xsi:type="dcterms:W3CDTF">2026-09-27T23:51:08Z</dcterms:created>
  <dcterms:modified xsi:type="dcterms:W3CDTF">2026-10-05T00:34:41Z</dcterms:modified>
</cp:coreProperties>
</file>